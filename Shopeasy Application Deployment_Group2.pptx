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C3FF5C-5961-4ACD-BDFC-98D49497A41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270"/>
            <p14:sldId id="268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344B7-A67D-A530-8951-DE924A9DC0AE}" v="4" dt="2026-06-05T09:05:47.641"/>
    <p1510:client id="{5438FF0A-BD1D-2507-AA67-6784BF3AC34D}" v="469" dt="2026-06-05T09:54:37.297"/>
    <p1510:client id="{B01C5E73-31ED-3540-591F-07E6A162C552}" v="451" dt="2026-06-05T09:01:13.603"/>
    <p1510:client id="{B40F8D43-4443-49FF-810C-8BCFBE568D82}" v="1" dt="2026-06-05T10:29:05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9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0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7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38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3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7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9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2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13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56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59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0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71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23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3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1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766234"/>
            <a:ext cx="8825658" cy="1939460"/>
          </a:xfrm>
        </p:spPr>
        <p:txBody>
          <a:bodyPr/>
          <a:lstStyle/>
          <a:p>
            <a:r>
              <a:rPr lang="en-US" sz="6000" b="1">
                <a:solidFill>
                  <a:schemeClr val="bg1">
                    <a:lumMod val="95000"/>
                  </a:schemeClr>
                </a:solidFill>
                <a:latin typeface="Times New Roman"/>
                <a:ea typeface="+mj-lt"/>
                <a:cs typeface="Times New Roman"/>
              </a:rPr>
              <a:t>Shopeasy Application Deployment</a:t>
            </a:r>
            <a:endParaRPr lang="en-US" sz="6000" b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18972"/>
            <a:ext cx="9144000" cy="3600889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/>
          </a:p>
          <a:p>
            <a:endParaRPr lang="en-US"/>
          </a:p>
          <a:p>
            <a:pPr algn="r"/>
            <a:r>
              <a:rPr lang="en-US" sz="2400">
                <a:latin typeface="Times New Roman"/>
                <a:cs typeface="Times New Roman"/>
              </a:rPr>
              <a:t>From,</a:t>
            </a:r>
          </a:p>
          <a:p>
            <a:pPr algn="r"/>
            <a:r>
              <a:rPr lang="en-US" sz="2400">
                <a:latin typeface="Times New Roman"/>
                <a:cs typeface="Times New Roman"/>
              </a:rPr>
              <a:t>Anamika</a:t>
            </a:r>
          </a:p>
          <a:p>
            <a:pPr algn="r"/>
            <a:r>
              <a:rPr lang="en-US" sz="2400">
                <a:latin typeface="Times New Roman"/>
                <a:cs typeface="Times New Roman"/>
              </a:rPr>
              <a:t>Dayyala srilekha</a:t>
            </a:r>
          </a:p>
          <a:p>
            <a:pPr algn="r"/>
            <a:r>
              <a:rPr lang="en-US" sz="2400">
                <a:latin typeface="Times New Roman"/>
                <a:cs typeface="Times New Roman"/>
              </a:rPr>
              <a:t>Vaddagani aishwarya</a:t>
            </a:r>
          </a:p>
          <a:p>
            <a:pPr algn="r"/>
            <a:r>
              <a:rPr lang="en-US" sz="2400">
                <a:latin typeface="Times New Roman"/>
                <a:cs typeface="Times New Roman"/>
              </a:rPr>
              <a:t>Meghana s k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CB86-D88A-5A2C-46EE-956C9C9C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0CEE5-03BA-21F6-11A3-30167B8D5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The objective of this project is to </a:t>
            </a:r>
            <a:r>
              <a:rPr lang="en-US" b="1">
                <a:latin typeface="Times New Roman"/>
                <a:cs typeface="Times New Roman"/>
              </a:rPr>
              <a:t>modernize application deployment</a:t>
            </a:r>
            <a:r>
              <a:rPr lang="en-US">
                <a:latin typeface="Times New Roman"/>
                <a:cs typeface="Times New Roman"/>
              </a:rPr>
              <a:t> by eliminating manual processes, introducing automation.</a:t>
            </a:r>
          </a:p>
          <a:p>
            <a:r>
              <a:rPr lang="en-US" b="1" i="1" u="sng">
                <a:latin typeface="Times New Roman"/>
                <a:cs typeface="Times New Roman"/>
              </a:rPr>
              <a:t>Problem Statement</a:t>
            </a:r>
          </a:p>
          <a:p>
            <a:r>
              <a:rPr lang="en-US">
                <a:latin typeface="Times New Roman"/>
                <a:cs typeface="Times New Roman"/>
              </a:rPr>
              <a:t>The organization faced the following challenges:</a:t>
            </a:r>
          </a:p>
          <a:p>
            <a:r>
              <a:rPr lang="en-US">
                <a:latin typeface="Times New Roman"/>
                <a:cs typeface="Times New Roman"/>
              </a:rPr>
              <a:t>Manual deployment process, which was time-consuming</a:t>
            </a:r>
          </a:p>
          <a:p>
            <a:r>
              <a:rPr lang="en-US">
                <a:latin typeface="Times New Roman"/>
                <a:cs typeface="Times New Roman"/>
              </a:rPr>
              <a:t>No proper version control mechanism</a:t>
            </a:r>
          </a:p>
          <a:p>
            <a:r>
              <a:rPr lang="en-US">
                <a:latin typeface="Times New Roman"/>
                <a:cs typeface="Times New Roman"/>
              </a:rPr>
              <a:t>Lack of automation in build and deployment</a:t>
            </a:r>
          </a:p>
          <a:p>
            <a:r>
              <a:rPr lang="en-US">
                <a:latin typeface="Times New Roman"/>
                <a:cs typeface="Times New Roman"/>
              </a:rPr>
              <a:t>Higher chances of human errors</a:t>
            </a:r>
          </a:p>
          <a:p>
            <a:pPr marL="0" indent="0">
              <a:buNone/>
            </a:pPr>
            <a:br>
              <a:rPr lang="en-US">
                <a:latin typeface="Aptos"/>
              </a:rPr>
            </a:b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1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C148-8304-CC0C-8A10-8ACAF207D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solidFill>
                  <a:srgbClr val="EBEBEB"/>
                </a:solidFill>
                <a:latin typeface="Times New Roman"/>
                <a:cs typeface="Times New Roman"/>
              </a:rPr>
              <a:t>Solution Overview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2845-A688-39FB-7740-A5E9763CD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>
              <a:solidFill>
                <a:srgbClr val="404040"/>
              </a:solidFill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To address these challenges, I implemented an end-to-end CI/CD pipeline using:</a:t>
            </a:r>
            <a:endParaRPr lang="en-US" sz="200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Flask → for application development</a:t>
            </a:r>
            <a:endParaRPr lang="en-US" sz="200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Docker → for containerization</a:t>
            </a:r>
            <a:endParaRPr lang="en-US" sz="200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GitHub → for version control</a:t>
            </a:r>
            <a:endParaRPr lang="en-US" sz="200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Google Cloud Build → for CI/CD automation</a:t>
            </a:r>
            <a:endParaRPr lang="en-US" sz="200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Artifact Registry → for storing Docker images</a:t>
            </a:r>
            <a:endParaRPr lang="en-US" sz="200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GKE (Kubernetes Engine) →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176474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C693F-7341-AE7E-D510-15DA6AAB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40294"/>
            <a:ext cx="8797131" cy="1064150"/>
          </a:xfrm>
        </p:spPr>
        <p:txBody>
          <a:bodyPr/>
          <a:lstStyle/>
          <a:p>
            <a:br>
              <a:rPr lang="en-US">
                <a:latin typeface="Century Gothic"/>
                <a:cs typeface="Segoe UI"/>
              </a:rPr>
            </a:br>
            <a:r>
              <a:rPr lang="en-US">
                <a:latin typeface="Century Gothic"/>
                <a:cs typeface="Segoe UI"/>
              </a:rPr>
              <a:t>1</a:t>
            </a:r>
            <a:r>
              <a:rPr lang="en-US" sz="4000">
                <a:latin typeface="Times New Roman"/>
                <a:cs typeface="Times New Roman"/>
              </a:rPr>
              <a:t>. Application Development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DA1F-AF8D-3706-0DE2-12F0B067A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Created a simple Flask-based web application</a:t>
            </a:r>
          </a:p>
          <a:p>
            <a:r>
              <a:rPr lang="en-US">
                <a:latin typeface="Times New Roman"/>
                <a:cs typeface="Times New Roman"/>
              </a:rPr>
              <a:t>The app exposes an endpoint and runs on port 8080</a:t>
            </a:r>
          </a:p>
          <a:p>
            <a:endParaRPr lang="en-US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b="1">
                <a:latin typeface="Times New Roman"/>
                <a:cs typeface="Times New Roman"/>
              </a:rPr>
              <a:t>2. Containerization</a:t>
            </a:r>
          </a:p>
          <a:p>
            <a:pPr marL="0" indent="0">
              <a:buNone/>
            </a:pP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Created a Dockerfile to package the application</a:t>
            </a:r>
          </a:p>
          <a:p>
            <a:r>
              <a:rPr lang="en-US">
                <a:latin typeface="Times New Roman"/>
                <a:cs typeface="Times New Roman"/>
              </a:rPr>
              <a:t>Built a Docker image and tested it locally</a:t>
            </a:r>
          </a:p>
          <a:p>
            <a:r>
              <a:rPr lang="en-US">
                <a:latin typeface="Times New Roman"/>
                <a:cs typeface="Times New Roman"/>
              </a:rPr>
              <a:t>Ensured the application runs inside the container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2466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6737-DBC7-A9B4-1868-237A9DAFB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/>
                <a:cs typeface="Times New Roman"/>
              </a:rPr>
              <a:t>Output: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174161-D8A4-419C-CA2D-4C45B59C2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7464" y="2603500"/>
            <a:ext cx="6516194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4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541BC9-5AB2-37D3-58F2-C4C14B0EA334}"/>
              </a:ext>
            </a:extLst>
          </p:cNvPr>
          <p:cNvSpPr txBox="1"/>
          <p:nvPr/>
        </p:nvSpPr>
        <p:spPr>
          <a:xfrm>
            <a:off x="832557" y="-1"/>
            <a:ext cx="9355666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000" b="1" u="sng">
                <a:latin typeface="Times New Roman"/>
                <a:ea typeface="+mn-lt"/>
                <a:cs typeface="Times New Roman"/>
              </a:rPr>
              <a:t>3.Version Control using GitHub</a:t>
            </a:r>
            <a:endParaRPr lang="en-US" sz="2000" b="1" u="sng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Initialized a Git repository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Pushed the application code to GitHub</a:t>
            </a: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/>
          </a:p>
          <a:p>
            <a:pPr marL="342900" indent="-342900">
              <a:buFont typeface="Arial"/>
              <a:buChar char="•"/>
            </a:pPr>
            <a:endParaRPr lang="en-US"/>
          </a:p>
          <a:p>
            <a:pPr marL="342900" indent="-342900">
              <a:buFont typeface="Arial"/>
              <a:buChar char="•"/>
            </a:pPr>
            <a:endParaRPr lang="en-US"/>
          </a:p>
          <a:p>
            <a:endParaRPr lang="en-US" b="1" u="sng"/>
          </a:p>
          <a:p>
            <a:endParaRPr lang="en-US"/>
          </a:p>
          <a:p>
            <a:pPr marL="342900" indent="-342900">
              <a:buFont typeface="Arial"/>
              <a:buChar char="•"/>
            </a:pPr>
            <a:endParaRPr lang="en-US"/>
          </a:p>
          <a:p>
            <a:pPr marL="342900" indent="-342900">
              <a:buFont typeface="Arial"/>
              <a:buChar char="•"/>
            </a:pPr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515CB3-76D8-2554-C997-9E97D19C7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45" y="1709913"/>
            <a:ext cx="7704667" cy="44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93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9C7C74-F10C-1F3E-91EB-EF8EA0900EB0}"/>
              </a:ext>
            </a:extLst>
          </p:cNvPr>
          <p:cNvSpPr txBox="1"/>
          <p:nvPr/>
        </p:nvSpPr>
        <p:spPr>
          <a:xfrm>
            <a:off x="631032" y="1190625"/>
            <a:ext cx="7619999" cy="27084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000" b="1" i="0" u="sng" baseline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4. Create Artifact Registry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  <a:r>
              <a:rPr lang="en-US" sz="20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pPr algn="l" rtl="0"/>
            <a:r>
              <a:rPr lang="en-US" sz="20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  <a:r>
              <a:rPr lang="en-US" sz="20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pPr algn="l" rtl="0"/>
            <a:r>
              <a:rPr lang="en-US" sz="20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Enable API​</a:t>
            </a:r>
            <a:r>
              <a:rPr lang="en-US" sz="20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pPr algn="l" rtl="0"/>
            <a:r>
              <a:rPr lang="en-US" sz="20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Create repo</a:t>
            </a:r>
            <a:r>
              <a:rPr lang="en-US" sz="2000" b="0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endParaRPr lang="en-US">
              <a:cs typeface="Segoe UI"/>
            </a:endParaRPr>
          </a:p>
          <a:p>
            <a:endParaRPr lang="en-US">
              <a:cs typeface="Segoe UI"/>
            </a:endParaRPr>
          </a:p>
          <a:p>
            <a:endParaRPr lang="en-US">
              <a:cs typeface="Segoe UI"/>
            </a:endParaRPr>
          </a:p>
          <a:p>
            <a:endParaRPr lang="en-US"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9298A3-0211-DEAF-4CA1-F0EAF6C10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31" y="2652517"/>
            <a:ext cx="11072813" cy="262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0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78EE2E-1E5B-154B-9FCD-CB8092856AC9}"/>
              </a:ext>
            </a:extLst>
          </p:cNvPr>
          <p:cNvSpPr txBox="1"/>
          <p:nvPr/>
        </p:nvSpPr>
        <p:spPr>
          <a:xfrm>
            <a:off x="892969" y="523875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>
                <a:latin typeface="Times New Roman"/>
                <a:cs typeface="Times New Roman"/>
              </a:rPr>
              <a:t>5. Creating GKE cluster</a:t>
            </a:r>
          </a:p>
          <a:p>
            <a:endParaRPr lang="en-US" sz="2000" b="1" u="sng"/>
          </a:p>
          <a:p>
            <a:pPr algn="ctr"/>
            <a:endParaRPr lang="en-US"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DBC0FB0-C6E3-8BEF-7FA3-F16B108DC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9331"/>
            <a:ext cx="12192000" cy="271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DF95A2AB-629A-FDEC-F099-1A21847F7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1656"/>
            <a:ext cx="12192000" cy="34442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1D8F5C-6F1C-7FFD-8190-3CB3718C96F6}"/>
              </a:ext>
            </a:extLst>
          </p:cNvPr>
          <p:cNvSpPr txBox="1"/>
          <p:nvPr/>
        </p:nvSpPr>
        <p:spPr>
          <a:xfrm>
            <a:off x="607218" y="440531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>
                <a:latin typeface="Times New Roman"/>
                <a:cs typeface="Times New Roman"/>
              </a:rPr>
              <a:t>6.Build Image Using Cloud Build</a:t>
            </a:r>
            <a:endParaRPr lang="en-US" sz="2400" u="sng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259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D7F18F-2C32-9E72-08F7-70FE9A008FAB}"/>
              </a:ext>
            </a:extLst>
          </p:cNvPr>
          <p:cNvSpPr txBox="1"/>
          <p:nvPr/>
        </p:nvSpPr>
        <p:spPr>
          <a:xfrm>
            <a:off x="952500" y="547687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>
                <a:latin typeface="Times New Roman"/>
                <a:cs typeface="Times New Roman"/>
              </a:rPr>
              <a:t>7.Deployment and Exposure of Application</a:t>
            </a:r>
          </a:p>
          <a:p>
            <a:pPr algn="ctr"/>
            <a:endParaRPr lang="en-US"/>
          </a:p>
        </p:txBody>
      </p:sp>
      <p:pic>
        <p:nvPicPr>
          <p:cNvPr id="3" name="Picture 2" descr="A black screen with white text and numbers&#10;&#10;AI-generated content may be incorrect.">
            <a:extLst>
              <a:ext uri="{FF2B5EF4-FFF2-40B4-BE49-F238E27FC236}">
                <a16:creationId xmlns:a16="http://schemas.microsoft.com/office/drawing/2014/main" id="{83960B37-DCC1-B4BA-E656-95852C74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532" y="1733551"/>
            <a:ext cx="8703468" cy="323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BE4D32-713C-D0EC-88CF-044519CFE6AC}"/>
              </a:ext>
            </a:extLst>
          </p:cNvPr>
          <p:cNvSpPr txBox="1"/>
          <p:nvPr/>
        </p:nvSpPr>
        <p:spPr>
          <a:xfrm>
            <a:off x="892969" y="511969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External IP:34.172.48.20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091E67-3C69-F1D0-70D2-E1AF20A99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8" y="1197768"/>
            <a:ext cx="10106024" cy="464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87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67A3AE-B55D-350C-D54F-F6C28F8567C2}"/>
              </a:ext>
            </a:extLst>
          </p:cNvPr>
          <p:cNvSpPr txBox="1"/>
          <p:nvPr/>
        </p:nvSpPr>
        <p:spPr>
          <a:xfrm>
            <a:off x="595313" y="702469"/>
            <a:ext cx="6096000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endParaRPr lang="en-US"/>
          </a:p>
          <a:p>
            <a:r>
              <a:rPr lang="en-US" sz="2000" b="1" u="sng">
                <a:latin typeface="Times New Roman"/>
                <a:cs typeface="Times New Roman"/>
              </a:rPr>
              <a:t>CI/CD Setup</a:t>
            </a:r>
          </a:p>
          <a:p>
            <a:pPr>
              <a:buFont typeface="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Integrated GitHub with Cloud Build</a:t>
            </a:r>
          </a:p>
          <a:p>
            <a:pPr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Created Cloud Build trigger for automatic execution</a:t>
            </a:r>
          </a:p>
          <a:p>
            <a:pPr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Configured cloudbuild.yaml for build &amp; deployment steps</a:t>
            </a:r>
          </a:p>
          <a:p>
            <a:pPr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Tested automated Docker image build and push</a:t>
            </a:r>
            <a:endParaRPr lang="en-US">
              <a:latin typeface="Times New Roman"/>
              <a:cs typeface="Times New Roman"/>
            </a:endParaRP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97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00491A-A430-C3DC-0A09-DAEC3054C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7278"/>
            <a:ext cx="9712272" cy="339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56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7AB4F5-83D3-D1AB-6650-B1BDAB17F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521"/>
          <a:stretch>
            <a:fillRect/>
          </a:stretch>
        </p:blipFill>
        <p:spPr>
          <a:xfrm>
            <a:off x="619932" y="1545286"/>
            <a:ext cx="9867255" cy="44302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618EAF-143C-9459-C2CB-EBB65D103D7A}"/>
              </a:ext>
            </a:extLst>
          </p:cNvPr>
          <p:cNvSpPr txBox="1"/>
          <p:nvPr/>
        </p:nvSpPr>
        <p:spPr>
          <a:xfrm>
            <a:off x="622300" y="38100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>
                <a:latin typeface="Times New Roman"/>
                <a:cs typeface="Times New Roman"/>
              </a:rPr>
              <a:t>Output: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33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F0839D-650C-6EE0-0A0B-6A1F9955E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461963"/>
            <a:ext cx="972502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508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99334-6BBD-ADDD-15FB-75D1EC490768}"/>
              </a:ext>
            </a:extLst>
          </p:cNvPr>
          <p:cNvSpPr txBox="1"/>
          <p:nvPr/>
        </p:nvSpPr>
        <p:spPr>
          <a:xfrm>
            <a:off x="863600" y="596900"/>
            <a:ext cx="8534400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>
                <a:latin typeface="Times New Roman"/>
                <a:cs typeface="Times New Roman"/>
              </a:rPr>
              <a:t>Chanllenges faced:</a:t>
            </a:r>
          </a:p>
          <a:p>
            <a:endParaRPr lang="en-US" sz="2400" b="1" u="sng">
              <a:latin typeface="Times New Roman"/>
              <a:cs typeface="Times New Roman"/>
            </a:endParaRPr>
          </a:p>
          <a:p>
            <a:endParaRPr lang="en-US" sz="2400" b="1" u="sng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Times New Roman"/>
              </a:rPr>
              <a:t>Trouble in managing 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correct ports (3000 vs 8080)</a:t>
            </a:r>
            <a:endParaRPr lang="en-US" sz="2400" b="1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Got permission error in google build trigger while rebuilding</a:t>
            </a:r>
          </a:p>
          <a:p>
            <a:pPr marL="342900" indent="-342900">
              <a:buFont typeface="Arial"/>
              <a:buChar char="•"/>
            </a:pP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Command: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gcloud projects add-iam-policy-binding project-2f5b3e28-ac7e-4407-938   --member="serviceAccount:445502444750-compute@developer.gserviceaccount.com"   --role="roles/container.admin"</a:t>
            </a:r>
            <a:endParaRPr lang="en-US" sz="2400">
              <a:latin typeface="Times New Roman"/>
              <a:cs typeface="Times New Roman"/>
            </a:endParaRPr>
          </a:p>
          <a:p>
            <a:endParaRPr lang="en-US" sz="2400"/>
          </a:p>
          <a:p>
            <a:pPr marL="342900" indent="-342900">
              <a:buFont typeface="Arial"/>
              <a:buChar char="•"/>
            </a:pPr>
            <a:endParaRPr lang="en-US" sz="24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37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1AB57-8DC5-7A3F-CC99-EF46E2AB697E}"/>
              </a:ext>
            </a:extLst>
          </p:cNvPr>
          <p:cNvSpPr txBox="1"/>
          <p:nvPr/>
        </p:nvSpPr>
        <p:spPr>
          <a:xfrm>
            <a:off x="749300" y="419100"/>
            <a:ext cx="910590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cs typeface="Times New Roman"/>
              </a:rPr>
              <a:t>Lesson learned: </a:t>
            </a:r>
          </a:p>
          <a:p>
            <a:endParaRPr lang="en-US" sz="2800" b="1">
              <a:latin typeface="Times New Roman"/>
              <a:cs typeface="Times New Roman"/>
            </a:endParaRPr>
          </a:p>
          <a:p>
            <a:endParaRPr lang="en-US" sz="2800" b="1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Learned how to move from manual deployment to automated deployment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Understood the role of Artifact Registry in storing images</a:t>
            </a:r>
          </a:p>
          <a:p>
            <a:pPr marL="457200" indent="-457200">
              <a:buFont typeface="Arial"/>
              <a:buChar char="•"/>
            </a:pPr>
            <a:r>
              <a:rPr lang="en-US" sz="2800">
                <a:latin typeface="Times New Roman"/>
                <a:cs typeface="Times New Roman"/>
              </a:rPr>
              <a:t>Trouble shoot real time errors.</a:t>
            </a:r>
          </a:p>
          <a:p>
            <a:pPr marL="457200" indent="-457200">
              <a:buFont typeface="Arial"/>
              <a:buChar char="•"/>
            </a:pPr>
            <a:endParaRPr lang="en-US" sz="2800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513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333</Words>
  <Application>Microsoft Office PowerPoint</Application>
  <PresentationFormat>Widescreen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Century Gothic</vt:lpstr>
      <vt:lpstr>Segoe UI</vt:lpstr>
      <vt:lpstr>Times New Roman</vt:lpstr>
      <vt:lpstr>Wingdings 3</vt:lpstr>
      <vt:lpstr>Ion Boardroom</vt:lpstr>
      <vt:lpstr>Shopeasy Application Deployment</vt:lpstr>
      <vt:lpstr>Objective</vt:lpstr>
      <vt:lpstr>Solution Overview</vt:lpstr>
      <vt:lpstr> 1. Application Development </vt:lpstr>
      <vt:lpstr>Output: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Vaddagani Aishwarya</cp:lastModifiedBy>
  <cp:revision>2</cp:revision>
  <dcterms:created xsi:type="dcterms:W3CDTF">2026-06-05T08:02:38Z</dcterms:created>
  <dcterms:modified xsi:type="dcterms:W3CDTF">2026-06-05T10:29:05Z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2026-06-05T08:03:40Z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1499275d-a379-49bb-99b9-003c95252a82</vt:lpwstr>
  </property>
  <property fmtid="{D5CDD505-2E9C-101B-9397-08002B2CF9AE}" pid="8" name="MSIP_Label_556dfe78-8a37-4fb5-b4aa-b92b97e18d15_ContentBits">
    <vt:lpwstr>1</vt:lpwstr>
  </property>
  <property fmtid="{D5CDD505-2E9C-101B-9397-08002B2CF9AE}" pid="9" name="MSIP_Label_556dfe78-8a37-4fb5-b4aa-b92b97e18d15_Tag">
    <vt:lpwstr>10, 3, 0, 2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Classification: Internal</vt:lpwstr>
  </property>
</Properties>
</file>